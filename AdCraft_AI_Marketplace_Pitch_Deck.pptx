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188720"/>
            <a:ext cx="3657600" cy="3657600"/>
          </a:xfrm>
          <a:prstGeom prst="ellipse">
            <a:avLst/>
          </a:prstGeom>
          <a:solidFill>
            <a:srgbClr val="161E48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937760"/>
            <a:ext cx="3291840" cy="3291840"/>
          </a:xfrm>
          <a:prstGeom prst="ellipse">
            <a:avLst/>
          </a:prstGeom>
          <a:solidFill>
            <a:srgbClr val="161E48"/>
          </a:solidFill>
          <a:ln/>
        </p:spPr>
      </p:sp>
      <p:sp>
        <p:nvSpPr>
          <p:cNvPr id="4" name="Shape 2"/>
          <p:cNvSpPr/>
          <p:nvPr/>
        </p:nvSpPr>
        <p:spPr>
          <a:xfrm>
            <a:off x="5364785" y="1051560"/>
            <a:ext cx="1463040" cy="14630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0545" y="141732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788920"/>
            <a:ext cx="10543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سوق الدعاية والإعلان الشامل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3456432"/>
            <a:ext cx="105430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AdCraft AI Marketplace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371600" y="4114800"/>
            <a:ext cx="9445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 الفكرة إلى الإعلان المطبوع والمُوصَّل خلال دقائق — في منصة واحدة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181905" y="4892040"/>
            <a:ext cx="1828800" cy="0"/>
          </a:xfrm>
          <a:prstGeom prst="line">
            <a:avLst/>
          </a:prstGeom>
          <a:noFill/>
          <a:ln w="12700">
            <a:solidFill>
              <a:srgbClr val="3B4B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عرض استثماري تمهيدي  •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التحدي الحالي في السوق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المشكلة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80160"/>
          </a:xfrm>
          <a:prstGeom prst="roundRect">
            <a:avLst>
              <a:gd name="adj" fmla="val 8571"/>
            </a:avLst>
          </a:prstGeom>
          <a:solidFill>
            <a:srgbClr val="F5F6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29800" y="2286000"/>
            <a:ext cx="640080" cy="640080"/>
          </a:xfrm>
          <a:prstGeom prst="ellipse">
            <a:avLst/>
          </a:prstGeom>
          <a:solidFill>
            <a:srgbClr val="1F2A5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3818" y="2430018"/>
            <a:ext cx="352044" cy="3520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2130552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الوقت والتكلفة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5840" y="2514600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أصحاب الأعمال الصغيرة يحتاجون إعلانات جذابة بسرعة، لكن التصميم الاحترافي بطيء ومكلف ويتطلب مصمماً ومصوّراً.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447288"/>
            <a:ext cx="10908792" cy="1280160"/>
          </a:xfrm>
          <a:prstGeom prst="roundRect">
            <a:avLst>
              <a:gd name="adj" fmla="val 8571"/>
            </a:avLst>
          </a:prstGeom>
          <a:solidFill>
            <a:srgbClr val="F5F6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829800" y="3767328"/>
            <a:ext cx="640080" cy="640080"/>
          </a:xfrm>
          <a:prstGeom prst="ellipse">
            <a:avLst/>
          </a:prstGeom>
          <a:solidFill>
            <a:srgbClr val="1F2A5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3818" y="3911346"/>
            <a:ext cx="352044" cy="3520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05840" y="361188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تشتّت الخدمات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1005840" y="399592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تحويل الإعلان الرقمي إلى مطبوعات ميدانية (بنرات، استيكرات، كروت) يتطلب التعامل مع عدة مطابع ووسطاء متفرقين.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928616"/>
            <a:ext cx="10908792" cy="1280160"/>
          </a:xfrm>
          <a:prstGeom prst="roundRect">
            <a:avLst>
              <a:gd name="adj" fmla="val 8571"/>
            </a:avLst>
          </a:prstGeom>
          <a:solidFill>
            <a:srgbClr val="F5F6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829800" y="5248656"/>
            <a:ext cx="640080" cy="640080"/>
          </a:xfrm>
          <a:prstGeom prst="ellipse">
            <a:avLst/>
          </a:prstGeom>
          <a:solidFill>
            <a:srgbClr val="1F2A5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3818" y="5392674"/>
            <a:ext cx="352044" cy="3520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05840" y="5093208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غياب الحلقة الكاملة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005840" y="5477256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 توجد جهة واحدة تربط توليد الإعلان بالذكاء الاصطناعي، والطباعة، والتوصيل، في تجربة واحدة سلسة.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الحل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AdCraft AI Marketplace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منصّة واحدة تدمج الذكاء الاصطناعي التوليدي، الطباعة الميدانية، وشبكات التوصيل — لتحويل أي منتج أو فكرة إلى إعلان جاهز ومُوصَّل.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161E48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0" y="2788920"/>
            <a:ext cx="1005840" cy="10058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0260" y="3040380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9776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الذكاء الاصطناعي التوليدي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452628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فيديو وصور ونصوص إعلانية جاهزة في ثوانٍ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52544" y="246888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161E48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41264" y="2788920"/>
            <a:ext cx="1005840" cy="10058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2724" y="304038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35424" y="39776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الطباعة الميدانية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581144" y="452628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شبكة مطابع تحوّل التصميم إلى بنرات واستيكرات وكروت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065008" y="246888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161E48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253728" y="2788920"/>
            <a:ext cx="1005840" cy="100584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5188" y="3040380"/>
            <a:ext cx="502920" cy="5029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47888" y="39776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شبكات التوصيل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293608" y="452628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توصيل المطبوعات مباشرة إلى باب العميل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المشهد التنافسي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أين تقف AdCraft بين الحلول القائمة؟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065008" y="187452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5F6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68028" y="2103120"/>
            <a:ext cx="777240" cy="777240"/>
          </a:xfrm>
          <a:prstGeom prst="ellipse">
            <a:avLst/>
          </a:prstGeom>
          <a:solidFill>
            <a:srgbClr val="1F2A5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4566" y="228965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47888" y="30175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أدوات الذكاء الاصطناعي للإعلانات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247888" y="3584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 • AdCreative.ai • HeyGen • Predis.ai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93608" y="3950208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تصميم وفيديو فقط — بلا طباعة ولا شبكة توصيل ميدانية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52544" y="187452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5F6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655564" y="2103120"/>
            <a:ext cx="777240" cy="777240"/>
          </a:xfrm>
          <a:prstGeom prst="ellipse">
            <a:avLst/>
          </a:prstGeom>
          <a:solidFill>
            <a:srgbClr val="1F2A5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102" y="2289658"/>
            <a:ext cx="404165" cy="40416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35424" y="30175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شبكات الطباعة عند الطلب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35424" y="3584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Printful • Gelato • Printify • Vistaprint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4581144" y="3950208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طباعة وشحن عالمي — بلا توليد إعلانات ذكي مخصص للنبرة والمنصة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40080" y="187452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5F6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1943100" y="2103120"/>
            <a:ext cx="777240" cy="777240"/>
          </a:xfrm>
          <a:prstGeom prst="ellipse">
            <a:avLst/>
          </a:prstGeom>
          <a:solidFill>
            <a:srgbClr val="1F2A5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9638" y="2289658"/>
            <a:ext cx="404165" cy="40416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2960" y="30175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تطبيقات التوصيل المحلية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822960" y="3584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شركات شحن ومندوبون مستقلون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868680" y="3950208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توصيل فقط — بلا تصميم ولا طباعة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40080" y="4892040"/>
            <a:ext cx="10908792" cy="1143000"/>
          </a:xfrm>
          <a:prstGeom prst="roundRect">
            <a:avLst>
              <a:gd name="adj" fmla="val 9600"/>
            </a:avLst>
          </a:prstGeom>
          <a:solidFill>
            <a:srgbClr val="1F2A5E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60120" y="5166360"/>
            <a:ext cx="594360" cy="59436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766" y="5309006"/>
            <a:ext cx="309067" cy="309067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737360" y="5029200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AdCraft AI Marketplace: نقطة التقاطع الوحيدة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1737360" y="5440680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توليد بالذكاء الاصطناعي + شبكة مطابع محلية + توصيل، في تجربة عربية واحدة مصمَّمة لأصحاب الأعمال الصغيرة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تجربة المستخدم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رحلة العميل: من الفكرة إلى المعاينة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842248" y="201168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F5F6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42348" y="2331720"/>
            <a:ext cx="914400" cy="914400"/>
          </a:xfrm>
          <a:prstGeom prst="ellipse">
            <a:avLst/>
          </a:prstGeom>
          <a:solidFill>
            <a:srgbClr val="1F2A5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61804" y="2551176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789920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١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979408" y="3429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ابدأ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025128" y="384048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زر واحد: «أنشئ إعلانك الآن»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8631936" y="260604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7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08192" y="201168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F5F6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908292" y="2331720"/>
            <a:ext cx="914400" cy="914400"/>
          </a:xfrm>
          <a:prstGeom prst="ellipse">
            <a:avLst/>
          </a:prstGeom>
          <a:solidFill>
            <a:srgbClr val="1F2A5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7748" y="2551176"/>
            <a:ext cx="475488" cy="47548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055864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٢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245352" y="3429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أدخل التفاصيل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291072" y="384048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صورة المنتج + نبرة الإعلان + المنصة المستهدفة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897880" y="260604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7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374136" y="201168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F5F6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174236" y="2331720"/>
            <a:ext cx="914400" cy="91440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692" y="2551176"/>
            <a:ext cx="475488" cy="47548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321808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٣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3511296" y="3429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السحر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3557016" y="384048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معاينة فورية: فيديو، صورة، نص، هاشتاقات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3163824" y="260604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7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640080" y="201168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F5F6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1440180" y="2331720"/>
            <a:ext cx="914400" cy="914400"/>
          </a:xfrm>
          <a:prstGeom prst="ellipse">
            <a:avLst/>
          </a:prstGeom>
          <a:solidFill>
            <a:srgbClr val="1F2A5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9636" y="2551176"/>
            <a:ext cx="475488" cy="47548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2587752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٤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777240" y="3429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نفّذ</a:t>
            </a:r>
            <a:endParaRPr lang="en-US" sz="1500" dirty="0"/>
          </a:p>
        </p:txBody>
      </p:sp>
      <p:sp>
        <p:nvSpPr>
          <p:cNvPr id="30" name="Text 24"/>
          <p:cNvSpPr/>
          <p:nvPr/>
        </p:nvSpPr>
        <p:spPr>
          <a:xfrm>
            <a:off x="822960" y="384048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حفظ ونشر — أو اطبعه وصلّه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640080" y="5166360"/>
            <a:ext cx="10908792" cy="868680"/>
          </a:xfrm>
          <a:prstGeom prst="roundRect">
            <a:avLst>
              <a:gd name="adj" fmla="val 12632"/>
            </a:avLst>
          </a:prstGeom>
          <a:solidFill>
            <a:srgbClr val="1F2A5E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960120" y="5394960"/>
            <a:ext cx="457200" cy="45720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990" y="5497830"/>
            <a:ext cx="251460" cy="25146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600200" y="53492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الهدف: معاينة فورية في أقل من 90 ثانية من رفع الصورة إلى الإعلان الجاهز</a:t>
            </a:r>
            <a:endParaRPr lang="en-US" sz="1500" dirty="0"/>
          </a:p>
        </p:txBody>
      </p:sp>
      <p:sp>
        <p:nvSpPr>
          <p:cNvPr id="35" name="Text 28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المُخرجات الذكية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السحر: ماذا يحصل عليه العميل؟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F5F6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17320" y="2423160"/>
            <a:ext cx="960120" cy="96012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7350" y="2663190"/>
            <a:ext cx="480060" cy="4800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6118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فيديو قصير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22960" y="41148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بصيغة Reels/Shorts مع تعليق صوتي وموسيقى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74136" y="210312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EDEF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51376" y="2423160"/>
            <a:ext cx="960120" cy="96012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1406" y="266319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11296" y="36118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صورة تسويقية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557016" y="41148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بخلفية احترافية مصممة بالذكاء الاصطناعي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08192" y="210312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F5F6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885432" y="2423160"/>
            <a:ext cx="960120" cy="96012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462" y="2663190"/>
            <a:ext cx="480060" cy="4800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45352" y="36118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 إعلاني جذاب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291072" y="41148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مكتوب بالنبرة التي يختارها العميل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842248" y="210312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EDEF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619488" y="2423160"/>
            <a:ext cx="960120" cy="96012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59518" y="2663190"/>
            <a:ext cx="480060" cy="4800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979408" y="36118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هاشتاقات مقترحة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9025128" y="41148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مهيأة لأداء أفضل على كل منصة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640080" y="562356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بطاقات مقترحة تُعرض فوراً للمقارنة والاختيار قبل النشر أو الطباعة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خيارات التنفيذ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 المعاينة إلى التسليم: مساران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63640" y="2057400"/>
            <a:ext cx="5257800" cy="3931920"/>
          </a:xfrm>
          <a:prstGeom prst="roundRect">
            <a:avLst>
              <a:gd name="adj" fmla="val 2791"/>
            </a:avLst>
          </a:prstGeom>
          <a:solidFill>
            <a:srgbClr val="F5F6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343900" y="2423160"/>
            <a:ext cx="1097280" cy="1097280"/>
          </a:xfrm>
          <a:prstGeom prst="ellipse">
            <a:avLst/>
          </a:prstGeom>
          <a:solidFill>
            <a:srgbClr val="1F2A5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8220" y="269748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37960" y="370332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حفظ ونشر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720840" y="4251960"/>
            <a:ext cx="4343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تحميل المواد الرقمية فوراً لاستخدامها على أي منصة تواصل اجتماعي — بلا انتظار.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720840" y="521208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مسار رقمي بالكامل  •  فوري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080" y="2057400"/>
            <a:ext cx="5257800" cy="3931920"/>
          </a:xfrm>
          <a:prstGeom prst="roundRect">
            <a:avLst>
              <a:gd name="adj" fmla="val 2791"/>
            </a:avLst>
          </a:prstGeom>
          <a:solidFill>
            <a:srgbClr val="1F2A5E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20340" y="2423160"/>
            <a:ext cx="1097280" cy="109728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269748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14400" y="370332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اطبعه وصلّه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1097280" y="4251960"/>
            <a:ext cx="4343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طلب طباعة (بنرات، استيكرات، كروت) عبر شبكة المطابع الشريكة، مع توصيل مباشر لباب العميل.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097280" y="521208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مسار مادي  •  طباعة + توصيل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779008" y="365760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2E4E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779008" y="3657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أو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نموذج الربح: 3 مصادر دخل متكررة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383280" cy="4114800"/>
          </a:xfrm>
          <a:prstGeom prst="roundRect">
            <a:avLst>
              <a:gd name="adj" fmla="val 3243"/>
            </a:avLst>
          </a:prstGeom>
          <a:solidFill>
            <a:srgbClr val="F5F6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74520" y="2240280"/>
            <a:ext cx="914400" cy="914400"/>
          </a:xfrm>
          <a:prstGeom prst="ellipse">
            <a:avLst/>
          </a:prstGeom>
          <a:solidFill>
            <a:srgbClr val="1F2A5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976" y="2459736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2918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الإعلانات الرقمية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77240" y="36576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77240" y="422452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اشتراك شهري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96112" y="4709160"/>
            <a:ext cx="287121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خطة مجانية بعلامة مائية، واشتراكات لفتح الميزات المتقدمة، أو نظام رصيد للشركات الكبيرة.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52544" y="1965960"/>
            <a:ext cx="3383280" cy="4114800"/>
          </a:xfrm>
          <a:prstGeom prst="roundRect">
            <a:avLst>
              <a:gd name="adj" fmla="val 3243"/>
            </a:avLst>
          </a:prstGeom>
          <a:solidFill>
            <a:srgbClr val="1F2A5E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86984" y="2240280"/>
            <a:ext cx="914400" cy="91440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459736"/>
            <a:ext cx="475488" cy="47548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89704" y="32918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الطباعة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489704" y="36576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15%–20%</a:t>
            </a:r>
            <a:endParaRPr lang="en-US" sz="3000" dirty="0"/>
          </a:p>
        </p:txBody>
      </p:sp>
      <p:sp>
        <p:nvSpPr>
          <p:cNvPr id="16" name="Text 12"/>
          <p:cNvSpPr/>
          <p:nvPr/>
        </p:nvSpPr>
        <p:spPr>
          <a:xfrm>
            <a:off x="4489704" y="422452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هامش وساطة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608576" y="4709160"/>
            <a:ext cx="287121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تعاقد مع المطابع بأسعار الجملة، وبيع الخدمة للعميل النهائي بهامش ربح واضح.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065008" y="1965960"/>
            <a:ext cx="3383280" cy="4114800"/>
          </a:xfrm>
          <a:prstGeom prst="roundRect">
            <a:avLst>
              <a:gd name="adj" fmla="val 3243"/>
            </a:avLst>
          </a:prstGeom>
          <a:solidFill>
            <a:srgbClr val="F5F6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299448" y="2240280"/>
            <a:ext cx="914400" cy="914400"/>
          </a:xfrm>
          <a:prstGeom prst="ellipse">
            <a:avLst/>
          </a:prstGeom>
          <a:solidFill>
            <a:srgbClr val="1F2A5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904" y="2459736"/>
            <a:ext cx="475488" cy="47548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202168" y="32918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التوصيل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8202168" y="36576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رسوم ثابتة</a:t>
            </a:r>
            <a:endParaRPr lang="en-US" sz="3000" dirty="0"/>
          </a:p>
        </p:txBody>
      </p:sp>
      <p:sp>
        <p:nvSpPr>
          <p:cNvPr id="23" name="Text 18"/>
          <p:cNvSpPr/>
          <p:nvPr/>
        </p:nvSpPr>
        <p:spPr>
          <a:xfrm>
            <a:off x="8202168" y="422452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أو مدمجة بالسعر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8321040" y="4709160"/>
            <a:ext cx="287121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خصم تفاوضي مع شركات الشحن، أو دمج تكلفة التوصيل داخل سعر المنتج.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خطة التنفيذ التدريجي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065008" y="2057400"/>
            <a:ext cx="3383280" cy="3657600"/>
          </a:xfrm>
          <a:prstGeom prst="roundRect">
            <a:avLst>
              <a:gd name="adj" fmla="val 3243"/>
            </a:avLst>
          </a:prstGeom>
          <a:solidFill>
            <a:srgbClr val="F5F6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385048" y="2331720"/>
            <a:ext cx="777240" cy="777240"/>
          </a:xfrm>
          <a:prstGeom prst="ellipse">
            <a:avLst/>
          </a:prstGeom>
          <a:solidFill>
            <a:srgbClr val="1F2A5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9358" y="2526030"/>
            <a:ext cx="388620" cy="3886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625328" y="2286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2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339328" y="32461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المرحلة الأولى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339328" y="36118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اختبار التشغيل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339328" y="3977640"/>
            <a:ext cx="28346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التعاقد مع 3 مطابع ووكالة إعلانية واحدة، وتجربة رحلة العميل كاملة (توليد + طباعة + توصيل) لقياس الجودة والسرعة.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54112" y="356616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7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4352544" y="2057400"/>
            <a:ext cx="3383280" cy="3657600"/>
          </a:xfrm>
          <a:prstGeom prst="roundRect">
            <a:avLst>
              <a:gd name="adj" fmla="val 3243"/>
            </a:avLst>
          </a:prstGeom>
          <a:solidFill>
            <a:srgbClr val="F5F6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72584" y="2331720"/>
            <a:ext cx="777240" cy="777240"/>
          </a:xfrm>
          <a:prstGeom prst="ellipse">
            <a:avLst/>
          </a:prstGeom>
          <a:solidFill>
            <a:srgbClr val="1F2A5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6894" y="2526030"/>
            <a:ext cx="388620" cy="3886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912864" y="2286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2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4626864" y="32461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المرحلة الثانية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4626864" y="36118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تقنية التوصيل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4626864" y="3977640"/>
            <a:ext cx="28346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ربط التطبيق بنظام توصيل خارجي أو شبكة مندوبين مستقلين لتوسيع نطاق التغطية.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041648" y="356616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7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640080" y="2057400"/>
            <a:ext cx="3383280" cy="3657600"/>
          </a:xfrm>
          <a:prstGeom prst="roundRect">
            <a:avLst>
              <a:gd name="adj" fmla="val 3243"/>
            </a:avLst>
          </a:prstGeom>
          <a:solidFill>
            <a:srgbClr val="F5F6FA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960120" y="2331720"/>
            <a:ext cx="777240" cy="777240"/>
          </a:xfrm>
          <a:prstGeom prst="ellipse">
            <a:avLst/>
          </a:prstGeom>
          <a:solidFill>
            <a:srgbClr val="1F2A5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430" y="2526030"/>
            <a:ext cx="388620" cy="38862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200400" y="2286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2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24" name="Text 19"/>
          <p:cNvSpPr/>
          <p:nvPr/>
        </p:nvSpPr>
        <p:spPr>
          <a:xfrm>
            <a:off x="914400" y="32461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المرحلة الثالثة</a:t>
            </a:r>
            <a:endParaRPr lang="en-US" sz="1550" dirty="0"/>
          </a:p>
        </p:txBody>
      </p:sp>
      <p:sp>
        <p:nvSpPr>
          <p:cNvPr id="25" name="Text 20"/>
          <p:cNvSpPr/>
          <p:nvPr/>
        </p:nvSpPr>
        <p:spPr>
          <a:xfrm>
            <a:off x="914400" y="36118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توسيع السوق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914400" y="3977640"/>
            <a:ext cx="28346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فتح باب التسجيل لما لا يقل عن 100 مطبعة ووكالة، وتفعيل نظام المنافسات بين مقدمي الخدمة.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لماذا ننجح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القيمة الاستثمارية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161E48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51660" y="2606040"/>
            <a:ext cx="960120" cy="96012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90" y="2846070"/>
            <a:ext cx="480060" cy="4800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7947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مصادر دخل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914400" y="4315968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متكررة من عملية واحدة: توليد الإعلان، عمولة الطباعة، وخدمة التوصيل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52544" y="228600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161E48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564124" y="2606040"/>
            <a:ext cx="960120" cy="96012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154" y="284607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35424" y="37947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نموذج وسيط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4626864" y="4315968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 مخزون ولا مصانع مملوكة — المنصة تُشغّل شبكة شركاء قائمة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65008" y="228600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161E48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276588" y="2606040"/>
            <a:ext cx="960120" cy="96012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6618" y="2846070"/>
            <a:ext cx="480060" cy="4800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47888" y="37947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حل متكامل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8339328" y="4315968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لأصحاب الأعمال الصغيرة: من الفكرة إلى الإعلان المطبوع والمُوصَّل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657600" cy="3657600"/>
          </a:xfrm>
          <a:prstGeom prst="ellipse">
            <a:avLst/>
          </a:prstGeom>
          <a:solidFill>
            <a:srgbClr val="161E48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5120640"/>
            <a:ext cx="3291840" cy="3291840"/>
          </a:xfrm>
          <a:prstGeom prst="ellipse">
            <a:avLst/>
          </a:prstGeom>
          <a:solidFill>
            <a:srgbClr val="161E48"/>
          </a:solidFill>
          <a:ln/>
        </p:spPr>
      </p:sp>
      <p:sp>
        <p:nvSpPr>
          <p:cNvPr id="4" name="Shape 2"/>
          <p:cNvSpPr/>
          <p:nvPr/>
        </p:nvSpPr>
        <p:spPr>
          <a:xfrm>
            <a:off x="5364785" y="868680"/>
            <a:ext cx="1188720" cy="118872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1965" y="1165860"/>
            <a:ext cx="59436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28600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لنبدأ المرحلة الأولى معاً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1463040" y="3063240"/>
            <a:ext cx="92628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نبحث عن شريك مستثمر لتمويل التشغيل التجريبي: التعاقد مع أول 3 مطابع ووكالة إعلانية، وبناء نسخة تجربة العميل الأولى.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066648" y="416052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161E48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295248" y="4389120"/>
            <a:ext cx="822960" cy="82296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988" y="459486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209648" y="438912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تمويل المرحلة الأولى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4541368" y="416052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161E48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69968" y="4389120"/>
            <a:ext cx="822960" cy="82296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5708" y="459486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684368" y="438912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شراكات مع المطابع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8016088" y="416052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161E48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44688" y="4389120"/>
            <a:ext cx="822960" cy="822960"/>
          </a:xfrm>
          <a:prstGeom prst="ellipse">
            <a:avLst/>
          </a:prstGeom>
          <a:solidFill>
            <a:srgbClr val="F96167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0428" y="459486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59088" y="438912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فريق تنفيذ مصغّر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822960" y="6263640"/>
            <a:ext cx="10543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مسودة عرض تمهيدية — قابلة للتعديل بعد أول جلسة نقاش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2026-08-08T20:39:12Z</dcterms:created>
  <dcterms:modified xsi:type="dcterms:W3CDTF">2026-08-08T20:39:13Z</dcterms:modified>
</cp:coreProperties>
</file>