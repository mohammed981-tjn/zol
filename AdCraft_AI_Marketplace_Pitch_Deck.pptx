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657600" cy="3657600"/>
          </a:xfrm>
          <a:prstGeom prst="ellipse">
            <a:avLst/>
          </a:prstGeom>
          <a:solidFill>
            <a:srgbClr val="161E4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61E48"/>
          </a:solidFill>
          <a:ln/>
        </p:spPr>
      </p:sp>
      <p:sp>
        <p:nvSpPr>
          <p:cNvPr id="4" name="Shape 2"/>
          <p:cNvSpPr/>
          <p:nvPr/>
        </p:nvSpPr>
        <p:spPr>
          <a:xfrm>
            <a:off x="5364785" y="1051560"/>
            <a:ext cx="1463040" cy="14630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545" y="14173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سوق الدعاية والإعلان الشامل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56432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AdCraft AI Marketplace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41148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الفكرة إلى الإعلان المطبوع والمُوصَّل خلال دقائق — في منصة واحدة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81905" y="4892040"/>
            <a:ext cx="1828800" cy="0"/>
          </a:xfrm>
          <a:prstGeom prst="line">
            <a:avLst/>
          </a:prstGeom>
          <a:noFill/>
          <a:ln w="12700">
            <a:solidFill>
              <a:srgbClr val="3B4B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استثماري تمهيدي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 الحالي في السوق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0" y="2286000"/>
            <a:ext cx="640080" cy="64008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3818" y="24300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1305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 والتكلفة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5146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أصحاب الأعمال الصغيرة يحتاجون إعلانات جذابة بسرعة، لكن التصميم الاحترافي بطيء ومكلف ويتطلب مصمماً ومصوّراً.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447288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829800" y="3767328"/>
            <a:ext cx="640080" cy="64008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818" y="3911346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611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تشتّت الخدمات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05840" y="39959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الإعلان الرقمي إلى مطبوعات ميدانية (بنرات، استيكرات، كروت) يتطلب التعامل مع عدة مطابع ووسطاء متفرقين.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928616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29800" y="5248656"/>
            <a:ext cx="640080" cy="64008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818" y="5392674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50932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الحلقة الكاملة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005840" y="5477256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توجد جهة واحدة تربط توليد الإعلان بالذكاء الاصطناعي، والطباعة، والتوصيل، في تجربة واحدة سلسة.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AdCraft AI Marketplace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منصّة واحدة تدمج الذكاء الاصطناعي التوليدي، الطباعة الميدانية، وشبكات التوصيل — لتحويل أي منتج أو فكرة إلى إعلان جاهز ومُوصَّل.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2788920"/>
            <a:ext cx="1005840" cy="10058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30403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الاصطناعي التوليدي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فيديو وصور ونصوص إعلانية جاهزة في ثوانٍ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52544" y="24688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41264" y="2788920"/>
            <a:ext cx="1005840" cy="10058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24" y="30403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الطباعة الميدانية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4526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شبكة مطابع تحوّل التصميم إلى بنرات واستيكرات وكروت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65008" y="24688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53728" y="2788920"/>
            <a:ext cx="1005840" cy="10058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88" y="30403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7888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شبكات التوصيل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93608" y="4526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توصيل المطبوعات مباشرة إلى باب العميل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المستخدم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رحلة العميل: من الفكرة إلى المعاينة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842248" y="201168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42348" y="2331720"/>
            <a:ext cx="914400" cy="91440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804" y="25511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79408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25128" y="38404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زر واحد: «أنشئ إعلانك الآن»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31936" y="26060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08192" y="201168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08292" y="2331720"/>
            <a:ext cx="914400" cy="91440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748" y="255117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5586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245352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أدخل التفاصيل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291072" y="38404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صورة المنتج + نبرة الإعلان + المنصة المستهدفة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897880" y="26060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374136" y="201168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74236" y="2331720"/>
            <a:ext cx="914400" cy="9144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255117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2180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3511296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السحر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557016" y="38404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معاينة فورية: فيديو، صورة، نص، هاشتاقات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163824" y="26060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40080" y="201168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440180" y="2331720"/>
            <a:ext cx="914400" cy="91440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636" y="2551176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58775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7724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نفّذ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22960" y="38404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حفظ ونشر — أو اطبعه وصلّه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40080" y="516636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1F2A5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60120" y="5394960"/>
            <a:ext cx="457200" cy="4572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497830"/>
            <a:ext cx="251460" cy="2514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00200" y="53492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معاينة فورية في أقل من 90 ثانية من رفع الصورة إلى الإعلان الجاهز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المُخرجات الذكية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السحر: ماذا يحصل عليه العميل؟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423160"/>
            <a:ext cx="960120" cy="9601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266319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فيديو قصير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بصيغة Reels/Shorts مع تعليق صوتي وموسيقى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74136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EDEF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51376" y="2423160"/>
            <a:ext cx="960120" cy="9601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406" y="26631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صورة تسويقية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57016" y="41148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بخلفية احترافية مصممة بالذكاء الاصطناعي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08192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85432" y="2423160"/>
            <a:ext cx="960120" cy="9601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462" y="266319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5352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 إعلاني جذاب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91072" y="41148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مكتوب بالنبرة التي يختارها العميل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42248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EDEF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19488" y="2423160"/>
            <a:ext cx="960120" cy="9601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518" y="2663190"/>
            <a:ext cx="480060" cy="4800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هاشتاقات مقترحة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25128" y="41148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مهيأة لأداء أفضل على كل منصة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بطاقات مقترحة تُعرض فوراً للمقارنة والاختيار قبل النشر أو الطباعة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خيارات التنفيذ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المعاينة إلى التسليم: مساران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63640" y="20574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43900" y="2423160"/>
            <a:ext cx="1097280" cy="109728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0" y="37033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حفظ ونشر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720840" y="42519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تحميل المواد الرقمية فوراً لاستخدامها على أي منصة تواصل اجتماعي — بلا انتظار.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20840" y="52120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رقمي بالكامل  •  فوري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F2A5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20340" y="2423160"/>
            <a:ext cx="1097280" cy="109728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26974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7033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اطبعه وصلّه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097280" y="42519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 طباعة (بنرات، استيكرات، كروت) عبر شبكة المطابع الشريكة، مع توصيل مباشر لباب العميل.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97280" y="52120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مادي  •  طباعة + توصيل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79008" y="3657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79008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الربح: 3 مصادر دخل متكررة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240280"/>
            <a:ext cx="914400" cy="91440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4597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الإعلانات الرقمية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4224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اشتراك شهري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6112" y="4709160"/>
            <a:ext cx="28712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مجانية بعلامة مائية، واشتراكات لفتح الميزات المتقدمة، أو نظام رصيد للشركات الكبيرة.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F2A5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86984" y="2240280"/>
            <a:ext cx="914400" cy="9144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45973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9704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الطباعة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89704" y="36576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15%–20%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489704" y="4224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وساطة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08576" y="4709160"/>
            <a:ext cx="28712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تعاقد مع المطابع بأسعار الجملة، وبيع الخدمة للعميل النهائي بهامش ربح واضح.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65008" y="196596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99448" y="2240280"/>
            <a:ext cx="914400" cy="91440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245973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02168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التوصيل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02168" y="36576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رسوم ثابتة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8202168" y="4224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 مدمجة بالسعر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321040" y="4709160"/>
            <a:ext cx="28712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تفاوضي مع شركات الشحن، أو دمج تكلفة التوصيل داخل سعر المنتج.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التنفيذ التدريجي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065008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85048" y="2331720"/>
            <a:ext cx="777240" cy="77724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9358" y="25260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25328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339328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الأولى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339328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 التشغيل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39328" y="397764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التعاقد مع 3 مطابع ووكالة إعلانية واحدة، وتجربة رحلة العميل كاملة (توليد + طباعة + توصيل) لقياس الجودة والسرعة.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54112" y="3566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52544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72584" y="2331720"/>
            <a:ext cx="777240" cy="77724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894" y="252603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12864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626864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الثانية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26864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تقنية التوصيل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26864" y="397764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ربط التطبيق بنظام توصيل خارجي أو شبكة مندوبين مستقلين لتوسيع نطاق التغطية.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041648" y="3566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40080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F5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60120" y="2331720"/>
            <a:ext cx="777240" cy="777240"/>
          </a:xfrm>
          <a:prstGeom prst="ellipse">
            <a:avLst/>
          </a:prstGeom>
          <a:solidFill>
            <a:srgbClr val="1F2A5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2526030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00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914400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الثالثة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91440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توسيع السوق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14400" y="397764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فتح باب التسجيل لما لا يقل عن 100 مطبعة ووكالة، وتفعيل نظام المنافسات بين مقدمي الخدمة.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ننجح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القيمة الاستثمارية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606040"/>
            <a:ext cx="960120" cy="9601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690" y="28460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مصادر دخل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4315968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متكررة من عملية واحدة: توليد الإعلان، عمولة الطباعة، وخدمة التوصيل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52544" y="228600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64124" y="2606040"/>
            <a:ext cx="960120" cy="9601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154" y="284607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5424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وسيط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26864" y="4315968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 مخزون ولا مصانع مملوكة — المنصة تُشغّل شبكة شركاء قائمة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65008" y="228600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76588" y="2606040"/>
            <a:ext cx="960120" cy="9601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618" y="284607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 متكامل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39328" y="4315968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لأصحاب الأعمال الصغيرة: من الفكرة إلى الإعلان المطبوع والمُوصَّل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61E4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3291840" cy="3291840"/>
          </a:xfrm>
          <a:prstGeom prst="ellipse">
            <a:avLst/>
          </a:prstGeom>
          <a:solidFill>
            <a:srgbClr val="161E48"/>
          </a:solidFill>
          <a:ln/>
        </p:spPr>
      </p:sp>
      <p:sp>
        <p:nvSpPr>
          <p:cNvPr id="4" name="Shape 2"/>
          <p:cNvSpPr/>
          <p:nvPr/>
        </p:nvSpPr>
        <p:spPr>
          <a:xfrm>
            <a:off x="5364785" y="868680"/>
            <a:ext cx="1188720" cy="118872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1965" y="11658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لنبدأ المرحلة الأولى معاً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463040" y="3063240"/>
            <a:ext cx="9262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نبحث عن شريك مستثمر لتمويل التشغيل التجريبي: التعاقد مع أول 3 مطابع ووكالة إعلانية، وبناء نسخة تجربة العميل الأولى.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66648" y="41605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95248" y="4389120"/>
            <a:ext cx="822960" cy="8229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988" y="45948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09648" y="4389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تمويل المرحلة الأولى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41368" y="41605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69968" y="4389120"/>
            <a:ext cx="822960" cy="8229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708" y="45948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84368" y="4389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شراكات مع المطابع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016088" y="41605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61E4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44688" y="4389120"/>
            <a:ext cx="822960" cy="8229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428" y="45948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59088" y="43891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فريق تنفيذ مصغّر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2960" y="62636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مسودة عرض تمهيدية — قابلة للتعديل بعد أول جلسة نقاش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2026-08-08T20:24:48Z</dcterms:created>
  <dcterms:modified xsi:type="dcterms:W3CDTF">2026-08-08T20:24:48Z</dcterms:modified>
</cp:coreProperties>
</file>